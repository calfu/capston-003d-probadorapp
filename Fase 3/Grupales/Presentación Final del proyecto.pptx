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18288000" cy="10287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K4aDYMO8c+UJa6Icr9fuVGTI4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979524" y="477234"/>
            <a:ext cx="14887866" cy="371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979524" y="477234"/>
            <a:ext cx="14887866" cy="371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2637651" y="3995523"/>
            <a:ext cx="13012697" cy="4359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979524" y="477234"/>
            <a:ext cx="14887866" cy="371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7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3"/>
          <p:cNvSpPr txBox="1"/>
          <p:nvPr>
            <p:ph type="title"/>
          </p:nvPr>
        </p:nvSpPr>
        <p:spPr>
          <a:xfrm>
            <a:off x="979524" y="477234"/>
            <a:ext cx="14887866" cy="371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200" u="none" cap="none" strike="noStrike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" type="body"/>
          </p:nvPr>
        </p:nvSpPr>
        <p:spPr>
          <a:xfrm>
            <a:off x="2637651" y="3995523"/>
            <a:ext cx="13012697" cy="4359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13" Type="http://schemas.openxmlformats.org/officeDocument/2006/relationships/image" Target="../media/image21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18.jpg"/><Relationship Id="rId9" Type="http://schemas.openxmlformats.org/officeDocument/2006/relationships/image" Target="../media/image1.png"/><Relationship Id="rId15" Type="http://schemas.openxmlformats.org/officeDocument/2006/relationships/image" Target="../media/image13.png"/><Relationship Id="rId14" Type="http://schemas.openxmlformats.org/officeDocument/2006/relationships/image" Target="../media/image11.png"/><Relationship Id="rId5" Type="http://schemas.openxmlformats.org/officeDocument/2006/relationships/image" Target="../media/image20.jp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2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Relationship Id="rId4" Type="http://schemas.openxmlformats.org/officeDocument/2006/relationships/image" Target="../media/image22.jpg"/><Relationship Id="rId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15595010" y="0"/>
            <a:ext cx="2296956" cy="4017645"/>
            <a:chOff x="15595010" y="0"/>
            <a:chExt cx="2296956" cy="4017645"/>
          </a:xfrm>
        </p:grpSpPr>
        <p:sp>
          <p:nvSpPr>
            <p:cNvPr id="45" name="Google Shape;45;p1"/>
            <p:cNvSpPr/>
            <p:nvPr/>
          </p:nvSpPr>
          <p:spPr>
            <a:xfrm>
              <a:off x="15595010" y="0"/>
              <a:ext cx="584835" cy="3439795"/>
            </a:xfrm>
            <a:custGeom>
              <a:rect b="b" l="l" r="r" t="t"/>
              <a:pathLst>
                <a:path extrusionOk="0" h="3439795" w="584834">
                  <a:moveTo>
                    <a:pt x="0" y="3439545"/>
                  </a:moveTo>
                  <a:lnTo>
                    <a:pt x="584360" y="3439545"/>
                  </a:lnTo>
                  <a:lnTo>
                    <a:pt x="584360" y="0"/>
                  </a:lnTo>
                  <a:lnTo>
                    <a:pt x="0" y="0"/>
                  </a:lnTo>
                  <a:lnTo>
                    <a:pt x="0" y="3439545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6179371" y="0"/>
              <a:ext cx="1712595" cy="4017645"/>
            </a:xfrm>
            <a:custGeom>
              <a:rect b="b" l="l" r="r" t="t"/>
              <a:pathLst>
                <a:path extrusionOk="0" h="4017645" w="1712594">
                  <a:moveTo>
                    <a:pt x="1712191" y="4017149"/>
                  </a:moveTo>
                  <a:lnTo>
                    <a:pt x="0" y="4017149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4017149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1"/>
          <p:cNvGrpSpPr/>
          <p:nvPr/>
        </p:nvGrpSpPr>
        <p:grpSpPr>
          <a:xfrm>
            <a:off x="0" y="-1"/>
            <a:ext cx="5894514" cy="2533651"/>
            <a:chOff x="0" y="-1"/>
            <a:chExt cx="5894514" cy="2533651"/>
          </a:xfrm>
        </p:grpSpPr>
        <p:sp>
          <p:nvSpPr>
            <p:cNvPr id="48" name="Google Shape;48;p1"/>
            <p:cNvSpPr/>
            <p:nvPr/>
          </p:nvSpPr>
          <p:spPr>
            <a:xfrm>
              <a:off x="147129" y="-1"/>
              <a:ext cx="5747385" cy="1966595"/>
            </a:xfrm>
            <a:custGeom>
              <a:rect b="b" l="l" r="r" t="t"/>
              <a:pathLst>
                <a:path extrusionOk="0" h="1966595" w="5747385">
                  <a:moveTo>
                    <a:pt x="0" y="892871"/>
                  </a:moveTo>
                  <a:lnTo>
                    <a:pt x="179015" y="0"/>
                  </a:lnTo>
                  <a:lnTo>
                    <a:pt x="5746941" y="0"/>
                  </a:lnTo>
                  <a:lnTo>
                    <a:pt x="5352757" y="1966065"/>
                  </a:lnTo>
                  <a:lnTo>
                    <a:pt x="0" y="892871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0" y="0"/>
              <a:ext cx="5023485" cy="2533650"/>
            </a:xfrm>
            <a:custGeom>
              <a:rect b="b" l="l" r="r" t="t"/>
              <a:pathLst>
                <a:path extrusionOk="0" h="2533650" w="5023485">
                  <a:moveTo>
                    <a:pt x="0" y="0"/>
                  </a:moveTo>
                  <a:lnTo>
                    <a:pt x="2887320" y="0"/>
                  </a:lnTo>
                  <a:lnTo>
                    <a:pt x="5023458" y="428282"/>
                  </a:lnTo>
                  <a:lnTo>
                    <a:pt x="4601434" y="2533207"/>
                  </a:lnTo>
                  <a:lnTo>
                    <a:pt x="0" y="1610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1"/>
          <p:cNvGrpSpPr/>
          <p:nvPr/>
        </p:nvGrpSpPr>
        <p:grpSpPr>
          <a:xfrm>
            <a:off x="13204435" y="8252194"/>
            <a:ext cx="4438650" cy="2035184"/>
            <a:chOff x="13204435" y="8252194"/>
            <a:chExt cx="4438650" cy="2035184"/>
          </a:xfrm>
        </p:grpSpPr>
        <p:sp>
          <p:nvSpPr>
            <p:cNvPr id="51" name="Google Shape;51;p1"/>
            <p:cNvSpPr/>
            <p:nvPr/>
          </p:nvSpPr>
          <p:spPr>
            <a:xfrm>
              <a:off x="13204435" y="8252194"/>
              <a:ext cx="4438650" cy="2035175"/>
            </a:xfrm>
            <a:custGeom>
              <a:rect b="b" l="l" r="r" t="t"/>
              <a:pathLst>
                <a:path extrusionOk="0" h="2035175" w="4438650">
                  <a:moveTo>
                    <a:pt x="136013" y="2034804"/>
                  </a:moveTo>
                  <a:lnTo>
                    <a:pt x="0" y="1745846"/>
                  </a:lnTo>
                  <a:lnTo>
                    <a:pt x="3709007" y="0"/>
                  </a:lnTo>
                  <a:lnTo>
                    <a:pt x="4438201" y="1549153"/>
                  </a:lnTo>
                  <a:lnTo>
                    <a:pt x="3406449" y="2034804"/>
                  </a:lnTo>
                  <a:lnTo>
                    <a:pt x="136013" y="203480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13962665" y="9026903"/>
              <a:ext cx="3270250" cy="1260475"/>
            </a:xfrm>
            <a:custGeom>
              <a:rect b="b" l="l" r="r" t="t"/>
              <a:pathLst>
                <a:path extrusionOk="0" h="1260475" w="3270250">
                  <a:moveTo>
                    <a:pt x="0" y="1260096"/>
                  </a:moveTo>
                  <a:lnTo>
                    <a:pt x="2677043" y="0"/>
                  </a:lnTo>
                  <a:lnTo>
                    <a:pt x="3270176" y="1260096"/>
                  </a:lnTo>
                  <a:lnTo>
                    <a:pt x="0" y="1260096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1"/>
          <p:cNvSpPr txBox="1"/>
          <p:nvPr>
            <p:ph type="title"/>
          </p:nvPr>
        </p:nvSpPr>
        <p:spPr>
          <a:xfrm>
            <a:off x="1117491" y="3543300"/>
            <a:ext cx="12847320" cy="2215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12700" marR="5080" rtl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endParaRPr sz="1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Logotipo&#10;&#10;El contenido generado por IA puede ser incorrecto."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5931" y="800100"/>
            <a:ext cx="57150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2"/>
          <p:cNvGrpSpPr/>
          <p:nvPr/>
        </p:nvGrpSpPr>
        <p:grpSpPr>
          <a:xfrm>
            <a:off x="0" y="546397"/>
            <a:ext cx="3040380" cy="3625858"/>
            <a:chOff x="0" y="546397"/>
            <a:chExt cx="3040380" cy="3625858"/>
          </a:xfrm>
        </p:grpSpPr>
        <p:sp>
          <p:nvSpPr>
            <p:cNvPr id="60" name="Google Shape;60;p2"/>
            <p:cNvSpPr/>
            <p:nvPr/>
          </p:nvSpPr>
          <p:spPr>
            <a:xfrm>
              <a:off x="0" y="546397"/>
              <a:ext cx="3040380" cy="2980055"/>
            </a:xfrm>
            <a:custGeom>
              <a:rect b="b" l="l" r="r" t="t"/>
              <a:pathLst>
                <a:path extrusionOk="0" h="2980054" w="3040380">
                  <a:moveTo>
                    <a:pt x="0" y="2979991"/>
                  </a:moveTo>
                  <a:lnTo>
                    <a:pt x="0" y="1087602"/>
                  </a:lnTo>
                  <a:lnTo>
                    <a:pt x="2310585" y="0"/>
                  </a:lnTo>
                  <a:lnTo>
                    <a:pt x="3039779" y="1549153"/>
                  </a:lnTo>
                  <a:lnTo>
                    <a:pt x="0" y="2979991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0" y="1321105"/>
              <a:ext cx="2766060" cy="2851150"/>
            </a:xfrm>
            <a:custGeom>
              <a:rect b="b" l="l" r="r" t="t"/>
              <a:pathLst>
                <a:path extrusionOk="0" h="2851150" w="2766060">
                  <a:moveTo>
                    <a:pt x="0" y="2851143"/>
                  </a:moveTo>
                  <a:lnTo>
                    <a:pt x="0" y="958754"/>
                  </a:lnTo>
                  <a:lnTo>
                    <a:pt x="2036850" y="0"/>
                  </a:lnTo>
                  <a:lnTo>
                    <a:pt x="2766044" y="1549153"/>
                  </a:lnTo>
                  <a:lnTo>
                    <a:pt x="0" y="2851143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2"/>
          <p:cNvGrpSpPr/>
          <p:nvPr/>
        </p:nvGrpSpPr>
        <p:grpSpPr>
          <a:xfrm>
            <a:off x="16063887" y="6041818"/>
            <a:ext cx="2224405" cy="4245610"/>
            <a:chOff x="16063887" y="6041818"/>
            <a:chExt cx="2224405" cy="4245610"/>
          </a:xfrm>
        </p:grpSpPr>
        <p:sp>
          <p:nvSpPr>
            <p:cNvPr id="63" name="Google Shape;63;p2"/>
            <p:cNvSpPr/>
            <p:nvPr/>
          </p:nvSpPr>
          <p:spPr>
            <a:xfrm>
              <a:off x="16063887" y="6041818"/>
              <a:ext cx="2224405" cy="4245610"/>
            </a:xfrm>
            <a:custGeom>
              <a:rect b="b" l="l" r="r" t="t"/>
              <a:pathLst>
                <a:path extrusionOk="0" h="4245609" w="2224405">
                  <a:moveTo>
                    <a:pt x="2224111" y="4245182"/>
                  </a:moveTo>
                  <a:lnTo>
                    <a:pt x="2222939" y="4245182"/>
                  </a:lnTo>
                  <a:lnTo>
                    <a:pt x="0" y="959421"/>
                  </a:lnTo>
                  <a:lnTo>
                    <a:pt x="1418136" y="0"/>
                  </a:lnTo>
                  <a:lnTo>
                    <a:pt x="2224111" y="1191323"/>
                  </a:lnTo>
                  <a:lnTo>
                    <a:pt x="2224111" y="4245182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6871545" y="6193915"/>
              <a:ext cx="1416685" cy="3052445"/>
            </a:xfrm>
            <a:custGeom>
              <a:rect b="b" l="l" r="r" t="t"/>
              <a:pathLst>
                <a:path extrusionOk="0" h="3052445" w="1416684">
                  <a:moveTo>
                    <a:pt x="1416453" y="3051966"/>
                  </a:moveTo>
                  <a:lnTo>
                    <a:pt x="0" y="958283"/>
                  </a:lnTo>
                  <a:lnTo>
                    <a:pt x="1416454" y="0"/>
                  </a:lnTo>
                  <a:lnTo>
                    <a:pt x="1416453" y="3051966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2"/>
          <p:cNvSpPr txBox="1"/>
          <p:nvPr/>
        </p:nvSpPr>
        <p:spPr>
          <a:xfrm>
            <a:off x="3087620" y="7765441"/>
            <a:ext cx="3664500" cy="22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ES" sz="3000" u="none" cap="none" strike="noStrike">
                <a:solidFill>
                  <a:srgbClr val="366092"/>
                </a:solidFill>
                <a:latin typeface="Trebuchet MS"/>
                <a:ea typeface="Trebuchet MS"/>
                <a:cs typeface="Trebuchet MS"/>
                <a:sym typeface="Trebuchet MS"/>
              </a:rPr>
              <a:t>Felipe Contreras</a:t>
            </a:r>
            <a:endParaRPr b="0" i="0" sz="3000" u="none" cap="none" strike="noStrike">
              <a:solidFill>
                <a:srgbClr val="36609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065" marR="5080" rtl="0" algn="ctr">
              <a:lnSpc>
                <a:spcPct val="118965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ES" sz="29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Analista Programador y QA</a:t>
            </a:r>
            <a:br>
              <a:rPr b="0" i="0" lang="es-ES" sz="29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b="0" i="0" lang="es-ES" sz="29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Diseño</a:t>
            </a:r>
            <a:endParaRPr b="0" i="0" sz="2900" u="none" cap="none" strike="noStrike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7733448" y="7765441"/>
            <a:ext cx="28188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ES" sz="3000" u="none" cap="none" strike="noStrike">
                <a:solidFill>
                  <a:srgbClr val="366092"/>
                </a:solidFill>
                <a:latin typeface="Trebuchet MS"/>
                <a:ea typeface="Trebuchet MS"/>
                <a:cs typeface="Trebuchet MS"/>
                <a:sym typeface="Trebuchet MS"/>
              </a:rPr>
              <a:t>Luis Gonzalez</a:t>
            </a:r>
            <a:endParaRPr b="0" i="0" sz="3000" u="none" cap="none" strike="noStrike">
              <a:solidFill>
                <a:srgbClr val="36609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ES" sz="29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Desarrollador frotend</a:t>
            </a:r>
            <a:br>
              <a:rPr b="0" i="0" lang="es-ES" sz="29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b="0" i="0" lang="es-ES" sz="29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Módulo viton-hd</a:t>
            </a:r>
            <a:endParaRPr b="0" i="0" sz="2900" u="none" cap="none" strike="noStrike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263715" y="7720137"/>
            <a:ext cx="3204900" cy="15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ES" sz="3000" u="none" cap="none" strike="noStrike">
                <a:solidFill>
                  <a:srgbClr val="366092"/>
                </a:solidFill>
                <a:latin typeface="Trebuchet MS"/>
                <a:ea typeface="Trebuchet MS"/>
                <a:cs typeface="Trebuchet MS"/>
                <a:sym typeface="Trebuchet MS"/>
              </a:rPr>
              <a:t>Esteban Calfupan</a:t>
            </a:r>
            <a:endParaRPr b="0" i="0" sz="3000" u="none" cap="none" strike="noStrike">
              <a:solidFill>
                <a:srgbClr val="36609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ES" sz="29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Desarrollador backend y BD</a:t>
            </a:r>
            <a:endParaRPr b="0" i="0" sz="2900" u="none" cap="none" strike="noStrike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8" name="Google Shape;68;p2"/>
          <p:cNvSpPr txBox="1"/>
          <p:nvPr>
            <p:ph type="title"/>
          </p:nvPr>
        </p:nvSpPr>
        <p:spPr>
          <a:xfrm>
            <a:off x="979524" y="477234"/>
            <a:ext cx="14887866" cy="2760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0225">
            <a:spAutoFit/>
          </a:bodyPr>
          <a:lstStyle/>
          <a:p>
            <a:pPr indent="0" lvl="0" marL="33134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00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Nuestro equipo:</a:t>
            </a:r>
            <a:endParaRPr sz="100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Hombre parado junto a una puerta&#10;&#10;El contenido generado por IA puede ser incorrecto." id="69" name="Google Shape;69;p2"/>
          <p:cNvPicPr preferRelativeResize="0"/>
          <p:nvPr/>
        </p:nvPicPr>
        <p:blipFill rotWithShape="1">
          <a:blip r:embed="rId3">
            <a:alphaModFix/>
          </a:blip>
          <a:srcRect b="52189" l="26002" r="31103" t="11731"/>
          <a:stretch/>
        </p:blipFill>
        <p:spPr>
          <a:xfrm>
            <a:off x="3189711" y="3691063"/>
            <a:ext cx="3595386" cy="4029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persona con una camiseta verde&#10;&#10;El contenido generado por IA puede ser incorrecto."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3707" y="3691063"/>
            <a:ext cx="3860234" cy="4029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bre parado enfrente de una pared&#10;&#10;El contenido generado por IA puede ser incorrecto." id="71" name="Google Shape;71;p2"/>
          <p:cNvPicPr preferRelativeResize="0"/>
          <p:nvPr/>
        </p:nvPicPr>
        <p:blipFill rotWithShape="1">
          <a:blip r:embed="rId5">
            <a:alphaModFix/>
          </a:blip>
          <a:srcRect b="41824" l="16966" r="12518" t="0"/>
          <a:stretch/>
        </p:blipFill>
        <p:spPr>
          <a:xfrm>
            <a:off x="12083150" y="3691063"/>
            <a:ext cx="3662762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"/>
          <p:cNvGrpSpPr/>
          <p:nvPr/>
        </p:nvGrpSpPr>
        <p:grpSpPr>
          <a:xfrm>
            <a:off x="15846018" y="4830"/>
            <a:ext cx="2442590" cy="2665306"/>
            <a:chOff x="11467437" y="0"/>
            <a:chExt cx="6821170" cy="5143531"/>
          </a:xfrm>
        </p:grpSpPr>
        <p:sp>
          <p:nvSpPr>
            <p:cNvPr id="77" name="Google Shape;77;p3"/>
            <p:cNvSpPr/>
            <p:nvPr/>
          </p:nvSpPr>
          <p:spPr>
            <a:xfrm>
              <a:off x="11467437" y="158146"/>
              <a:ext cx="6821170" cy="4985385"/>
            </a:xfrm>
            <a:custGeom>
              <a:rect b="b" l="l" r="r" t="t"/>
              <a:pathLst>
                <a:path extrusionOk="0" h="4985385" w="6821169">
                  <a:moveTo>
                    <a:pt x="6610733" y="0"/>
                  </a:moveTo>
                  <a:lnTo>
                    <a:pt x="6820561" y="477301"/>
                  </a:lnTo>
                  <a:lnTo>
                    <a:pt x="6820561" y="2388606"/>
                  </a:lnTo>
                  <a:lnTo>
                    <a:pt x="913980" y="4985223"/>
                  </a:lnTo>
                  <a:lnTo>
                    <a:pt x="0" y="2906172"/>
                  </a:lnTo>
                  <a:lnTo>
                    <a:pt x="6610733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2087344" y="0"/>
              <a:ext cx="6200775" cy="4024629"/>
            </a:xfrm>
            <a:custGeom>
              <a:rect b="b" l="l" r="r" t="t"/>
              <a:pathLst>
                <a:path extrusionOk="0" h="4024629" w="6200775">
                  <a:moveTo>
                    <a:pt x="6200654" y="0"/>
                  </a:moveTo>
                  <a:lnTo>
                    <a:pt x="6200654" y="1700054"/>
                  </a:lnTo>
                  <a:lnTo>
                    <a:pt x="913980" y="4024151"/>
                  </a:lnTo>
                  <a:lnTo>
                    <a:pt x="0" y="1945099"/>
                  </a:lnTo>
                  <a:lnTo>
                    <a:pt x="4424560" y="0"/>
                  </a:lnTo>
                  <a:lnTo>
                    <a:pt x="6200654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3"/>
          <p:cNvGrpSpPr/>
          <p:nvPr/>
        </p:nvGrpSpPr>
        <p:grpSpPr>
          <a:xfrm>
            <a:off x="0" y="7580607"/>
            <a:ext cx="1893570" cy="2350980"/>
            <a:chOff x="0" y="7580607"/>
            <a:chExt cx="1893570" cy="2350980"/>
          </a:xfrm>
        </p:grpSpPr>
        <p:sp>
          <p:nvSpPr>
            <p:cNvPr id="80" name="Google Shape;80;p3"/>
            <p:cNvSpPr/>
            <p:nvPr/>
          </p:nvSpPr>
          <p:spPr>
            <a:xfrm>
              <a:off x="0" y="7580607"/>
              <a:ext cx="1893570" cy="1921510"/>
            </a:xfrm>
            <a:custGeom>
              <a:rect b="b" l="l" r="r" t="t"/>
              <a:pathLst>
                <a:path extrusionOk="0" h="1921509" w="1893570">
                  <a:moveTo>
                    <a:pt x="0" y="1921359"/>
                  </a:moveTo>
                  <a:lnTo>
                    <a:pt x="0" y="662885"/>
                  </a:lnTo>
                  <a:lnTo>
                    <a:pt x="1408284" y="0"/>
                  </a:lnTo>
                  <a:lnTo>
                    <a:pt x="1893211" y="1030216"/>
                  </a:lnTo>
                  <a:lnTo>
                    <a:pt x="0" y="1921359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0" y="8095802"/>
              <a:ext cx="1711325" cy="1835785"/>
            </a:xfrm>
            <a:custGeom>
              <a:rect b="b" l="l" r="r" t="t"/>
              <a:pathLst>
                <a:path extrusionOk="0" h="1835784" w="1711325">
                  <a:moveTo>
                    <a:pt x="0" y="1835673"/>
                  </a:moveTo>
                  <a:lnTo>
                    <a:pt x="0" y="577199"/>
                  </a:lnTo>
                  <a:lnTo>
                    <a:pt x="1226245" y="0"/>
                  </a:lnTo>
                  <a:lnTo>
                    <a:pt x="1711173" y="1030216"/>
                  </a:lnTo>
                  <a:lnTo>
                    <a:pt x="0" y="1835673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387804" y="222335"/>
            <a:ext cx="8573770" cy="328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8895" marR="1332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80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CONTEXTO DEL CASO</a:t>
            </a:r>
            <a:endParaRPr sz="80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5200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2209800" y="3086100"/>
            <a:ext cx="16541258" cy="664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marR="108013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b="0" i="0" lang="es-ES" sz="37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Personas con dudas al comprar ropa: talla, color, combinación y ajuste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1080135" rtl="0" algn="l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b="0" i="0" lang="es-ES" sz="37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Inseguridad y baja autoestima al no saber cómo se verá una prenda en su cuerpo.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1080135" rtl="0" algn="l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b="0" i="0" lang="es-ES" sz="37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Alto índice de devoluciones en fechas de alta demanda navidad.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1080135" rtl="0" algn="l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b="0" i="0" lang="es-ES" sz="37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Falta de herramientas que entreguen confianza antes de comprar.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1080135" rtl="0" algn="l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b="0" i="0" lang="es-ES" sz="37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Necesidad de una solución universal, intuitiva y adaptable a cualquier e-commerce.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Logotipo&#10;&#10;El contenido generado por IA puede ser incorrecto."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8309" y="227530"/>
            <a:ext cx="2442590" cy="244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6609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4"/>
          <p:cNvGrpSpPr/>
          <p:nvPr/>
        </p:nvGrpSpPr>
        <p:grpSpPr>
          <a:xfrm>
            <a:off x="15828442" y="7606030"/>
            <a:ext cx="2296955" cy="2680970"/>
            <a:chOff x="15662453" y="7606371"/>
            <a:chExt cx="2296955" cy="2680970"/>
          </a:xfrm>
        </p:grpSpPr>
        <p:sp>
          <p:nvSpPr>
            <p:cNvPr id="91" name="Google Shape;91;p4"/>
            <p:cNvSpPr/>
            <p:nvPr/>
          </p:nvSpPr>
          <p:spPr>
            <a:xfrm>
              <a:off x="15662453" y="7606371"/>
              <a:ext cx="1712595" cy="2680970"/>
            </a:xfrm>
            <a:custGeom>
              <a:rect b="b" l="l" r="r" t="t"/>
              <a:pathLst>
                <a:path extrusionOk="0" h="2680970" w="1712594">
                  <a:moveTo>
                    <a:pt x="1712191" y="2680628"/>
                  </a:moveTo>
                  <a:lnTo>
                    <a:pt x="0" y="2680628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2680628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16246813" y="8183975"/>
              <a:ext cx="1712595" cy="2103120"/>
            </a:xfrm>
            <a:custGeom>
              <a:rect b="b" l="l" r="r" t="t"/>
              <a:pathLst>
                <a:path extrusionOk="0" h="2103120" w="1712594">
                  <a:moveTo>
                    <a:pt x="1712191" y="2103024"/>
                  </a:moveTo>
                  <a:lnTo>
                    <a:pt x="0" y="2103024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2103024"/>
                  </a:lnTo>
                  <a:close/>
                </a:path>
              </a:pathLst>
            </a:custGeom>
            <a:solidFill>
              <a:srgbClr val="B7CC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4"/>
          <p:cNvGrpSpPr/>
          <p:nvPr/>
        </p:nvGrpSpPr>
        <p:grpSpPr>
          <a:xfrm>
            <a:off x="328994" y="0"/>
            <a:ext cx="2296956" cy="2680970"/>
            <a:chOff x="328994" y="0"/>
            <a:chExt cx="2296956" cy="2680970"/>
          </a:xfrm>
        </p:grpSpPr>
        <p:sp>
          <p:nvSpPr>
            <p:cNvPr id="94" name="Google Shape;94;p4"/>
            <p:cNvSpPr/>
            <p:nvPr/>
          </p:nvSpPr>
          <p:spPr>
            <a:xfrm>
              <a:off x="328994" y="0"/>
              <a:ext cx="584835" cy="2103120"/>
            </a:xfrm>
            <a:custGeom>
              <a:rect b="b" l="l" r="r" t="t"/>
              <a:pathLst>
                <a:path extrusionOk="0" h="2103120" w="584835">
                  <a:moveTo>
                    <a:pt x="0" y="2103023"/>
                  </a:moveTo>
                  <a:lnTo>
                    <a:pt x="584360" y="2103023"/>
                  </a:lnTo>
                  <a:lnTo>
                    <a:pt x="584360" y="0"/>
                  </a:lnTo>
                  <a:lnTo>
                    <a:pt x="0" y="0"/>
                  </a:lnTo>
                  <a:lnTo>
                    <a:pt x="0" y="2103023"/>
                  </a:lnTo>
                  <a:close/>
                </a:path>
              </a:pathLst>
            </a:custGeom>
            <a:solidFill>
              <a:srgbClr val="93B3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913355" y="0"/>
              <a:ext cx="1712595" cy="2680970"/>
            </a:xfrm>
            <a:custGeom>
              <a:rect b="b" l="l" r="r" t="t"/>
              <a:pathLst>
                <a:path extrusionOk="0" h="2680970" w="1712595">
                  <a:moveTo>
                    <a:pt x="1712192" y="2680628"/>
                  </a:moveTo>
                  <a:lnTo>
                    <a:pt x="0" y="2680628"/>
                  </a:lnTo>
                  <a:lnTo>
                    <a:pt x="0" y="0"/>
                  </a:lnTo>
                  <a:lnTo>
                    <a:pt x="1712192" y="0"/>
                  </a:lnTo>
                  <a:lnTo>
                    <a:pt x="1712192" y="2680628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4"/>
          <p:cNvSpPr txBox="1"/>
          <p:nvPr>
            <p:ph type="title"/>
          </p:nvPr>
        </p:nvSpPr>
        <p:spPr>
          <a:xfrm>
            <a:off x="4843925" y="124875"/>
            <a:ext cx="8800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8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PROBLEMÁTICA</a:t>
            </a:r>
            <a:endParaRPr sz="8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2683826" y="1714500"/>
            <a:ext cx="13121100" cy="83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El proceso de compra de ropa presenta múltiples dificultades para los usuarios: </a:t>
            </a:r>
            <a:r>
              <a:rPr b="0" i="0" lang="es-ES" sz="3600" u="none" cap="none" strike="noStrike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inseguridad</a:t>
            </a: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 al elegir tallas, dudas sobre cómo se verá una prenda en su cuerpo y poca claridad al combinar colores o estilos.</a:t>
            </a:r>
            <a:b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Esta falta de visualización genera </a:t>
            </a:r>
            <a:r>
              <a:rPr b="0" i="0" lang="es-ES" sz="3600" u="none" cap="none" strike="noStrike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indecisión, baja satisfacción</a:t>
            </a: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 y un </a:t>
            </a:r>
            <a:r>
              <a:rPr b="0" i="0" lang="es-ES" sz="3600" u="none" cap="none" strike="noStrike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alto índice de devoluciones</a:t>
            </a: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, especialmente en fechas de alta demanda.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Por otro lado, los e-commerce y tiendas retail </a:t>
            </a:r>
            <a:r>
              <a:rPr b="0" i="0" lang="es-ES" sz="3600" u="none" cap="none" strike="noStrike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carecen de herramientas tecnológicas</a:t>
            </a: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 que permitan al cliente probar virtualmente sus productos, lo que provoca </a:t>
            </a:r>
            <a:r>
              <a:rPr b="0" i="0" lang="es-ES" sz="3600" u="none" cap="none" strike="noStrike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pérdida de ventas</a:t>
            </a: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, </a:t>
            </a:r>
            <a:r>
              <a:rPr b="0" i="0" lang="es-ES" sz="3600" u="none" cap="none" strike="noStrike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costos operativos adicionales </a:t>
            </a: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y </a:t>
            </a:r>
            <a:r>
              <a:rPr b="0" i="0" lang="es-ES" sz="3600" u="none" cap="none" strike="noStrike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una experiencia de compra limitada</a:t>
            </a: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b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b="0" i="0" lang="es-ES" sz="36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La ausencia de soluciones accesibles e intuitivas afecta directamente la confianza y la decisión final de compra.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5080" rtl="0" algn="ctr">
              <a:lnSpc>
                <a:spcPct val="1081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s-ES" sz="37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="0" i="0" sz="3700" u="none" cap="none" strike="noStrike">
              <a:solidFill>
                <a:srgbClr val="C2E7D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6609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15863924" y="7588561"/>
            <a:ext cx="2296955" cy="2680970"/>
            <a:chOff x="15662453" y="7606371"/>
            <a:chExt cx="2296955" cy="2680970"/>
          </a:xfrm>
        </p:grpSpPr>
        <p:sp>
          <p:nvSpPr>
            <p:cNvPr id="104" name="Google Shape;104;p5"/>
            <p:cNvSpPr/>
            <p:nvPr/>
          </p:nvSpPr>
          <p:spPr>
            <a:xfrm>
              <a:off x="15662453" y="7606371"/>
              <a:ext cx="1712595" cy="2680970"/>
            </a:xfrm>
            <a:custGeom>
              <a:rect b="b" l="l" r="r" t="t"/>
              <a:pathLst>
                <a:path extrusionOk="0" h="2680970" w="1712594">
                  <a:moveTo>
                    <a:pt x="1712191" y="2680628"/>
                  </a:moveTo>
                  <a:lnTo>
                    <a:pt x="0" y="2680628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2680628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6246813" y="8183975"/>
              <a:ext cx="1712595" cy="2103120"/>
            </a:xfrm>
            <a:custGeom>
              <a:rect b="b" l="l" r="r" t="t"/>
              <a:pathLst>
                <a:path extrusionOk="0" h="2103120" w="1712594">
                  <a:moveTo>
                    <a:pt x="1712191" y="2103024"/>
                  </a:moveTo>
                  <a:lnTo>
                    <a:pt x="0" y="2103024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210302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5"/>
          <p:cNvGrpSpPr/>
          <p:nvPr/>
        </p:nvGrpSpPr>
        <p:grpSpPr>
          <a:xfrm>
            <a:off x="328994" y="0"/>
            <a:ext cx="2296956" cy="2680970"/>
            <a:chOff x="328994" y="0"/>
            <a:chExt cx="2296956" cy="2680970"/>
          </a:xfrm>
        </p:grpSpPr>
        <p:sp>
          <p:nvSpPr>
            <p:cNvPr id="107" name="Google Shape;107;p5"/>
            <p:cNvSpPr/>
            <p:nvPr/>
          </p:nvSpPr>
          <p:spPr>
            <a:xfrm>
              <a:off x="328994" y="0"/>
              <a:ext cx="584835" cy="2103120"/>
            </a:xfrm>
            <a:custGeom>
              <a:rect b="b" l="l" r="r" t="t"/>
              <a:pathLst>
                <a:path extrusionOk="0" h="2103120" w="584835">
                  <a:moveTo>
                    <a:pt x="0" y="2103023"/>
                  </a:moveTo>
                  <a:lnTo>
                    <a:pt x="584360" y="2103023"/>
                  </a:lnTo>
                  <a:lnTo>
                    <a:pt x="584360" y="0"/>
                  </a:lnTo>
                  <a:lnTo>
                    <a:pt x="0" y="0"/>
                  </a:lnTo>
                  <a:lnTo>
                    <a:pt x="0" y="2103023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913355" y="0"/>
              <a:ext cx="1712595" cy="2680970"/>
            </a:xfrm>
            <a:custGeom>
              <a:rect b="b" l="l" r="r" t="t"/>
              <a:pathLst>
                <a:path extrusionOk="0" h="2680970" w="1712595">
                  <a:moveTo>
                    <a:pt x="1712192" y="2680628"/>
                  </a:moveTo>
                  <a:lnTo>
                    <a:pt x="0" y="2680628"/>
                  </a:lnTo>
                  <a:lnTo>
                    <a:pt x="0" y="0"/>
                  </a:lnTo>
                  <a:lnTo>
                    <a:pt x="1712192" y="0"/>
                  </a:lnTo>
                  <a:lnTo>
                    <a:pt x="1712192" y="2680628"/>
                  </a:lnTo>
                  <a:close/>
                </a:path>
              </a:pathLst>
            </a:custGeom>
            <a:solidFill>
              <a:srgbClr val="538C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5"/>
          <p:cNvSpPr/>
          <p:nvPr/>
        </p:nvSpPr>
        <p:spPr>
          <a:xfrm>
            <a:off x="754345" y="7297634"/>
            <a:ext cx="504825" cy="504825"/>
          </a:xfrm>
          <a:custGeom>
            <a:rect b="b" l="l" r="r" t="t"/>
            <a:pathLst>
              <a:path extrusionOk="0" h="504825" w="504825">
                <a:moveTo>
                  <a:pt x="260401" y="504286"/>
                </a:moveTo>
                <a:lnTo>
                  <a:pt x="211051" y="501052"/>
                </a:lnTo>
                <a:lnTo>
                  <a:pt x="163281" y="488253"/>
                </a:lnTo>
                <a:lnTo>
                  <a:pt x="118926" y="466380"/>
                </a:lnTo>
                <a:lnTo>
                  <a:pt x="79690" y="436274"/>
                </a:lnTo>
                <a:lnTo>
                  <a:pt x="47081" y="399092"/>
                </a:lnTo>
                <a:lnTo>
                  <a:pt x="22353" y="356263"/>
                </a:lnTo>
                <a:lnTo>
                  <a:pt x="6455" y="309433"/>
                </a:lnTo>
                <a:lnTo>
                  <a:pt x="0" y="260401"/>
                </a:lnTo>
                <a:lnTo>
                  <a:pt x="404" y="235647"/>
                </a:lnTo>
                <a:lnTo>
                  <a:pt x="8460" y="186852"/>
                </a:lnTo>
                <a:lnTo>
                  <a:pt x="25879" y="140566"/>
                </a:lnTo>
                <a:lnTo>
                  <a:pt x="51995" y="98568"/>
                </a:lnTo>
                <a:lnTo>
                  <a:pt x="85801" y="62472"/>
                </a:lnTo>
                <a:lnTo>
                  <a:pt x="126000" y="33665"/>
                </a:lnTo>
                <a:lnTo>
                  <a:pt x="171047" y="13254"/>
                </a:lnTo>
                <a:lnTo>
                  <a:pt x="219210" y="2023"/>
                </a:lnTo>
                <a:lnTo>
                  <a:pt x="243885" y="0"/>
                </a:lnTo>
                <a:lnTo>
                  <a:pt x="268639" y="404"/>
                </a:lnTo>
                <a:lnTo>
                  <a:pt x="317434" y="8460"/>
                </a:lnTo>
                <a:lnTo>
                  <a:pt x="363719" y="25879"/>
                </a:lnTo>
                <a:lnTo>
                  <a:pt x="405717" y="51995"/>
                </a:lnTo>
                <a:lnTo>
                  <a:pt x="441813" y="85801"/>
                </a:lnTo>
                <a:lnTo>
                  <a:pt x="470620" y="126000"/>
                </a:lnTo>
                <a:lnTo>
                  <a:pt x="491031" y="171047"/>
                </a:lnTo>
                <a:lnTo>
                  <a:pt x="502262" y="219210"/>
                </a:lnTo>
                <a:lnTo>
                  <a:pt x="504286" y="243885"/>
                </a:lnTo>
                <a:lnTo>
                  <a:pt x="504286" y="252143"/>
                </a:lnTo>
                <a:lnTo>
                  <a:pt x="495826" y="317434"/>
                </a:lnTo>
                <a:lnTo>
                  <a:pt x="478406" y="363719"/>
                </a:lnTo>
                <a:lnTo>
                  <a:pt x="452291" y="405717"/>
                </a:lnTo>
                <a:lnTo>
                  <a:pt x="418484" y="441813"/>
                </a:lnTo>
                <a:lnTo>
                  <a:pt x="378285" y="470620"/>
                </a:lnTo>
                <a:lnTo>
                  <a:pt x="333238" y="491031"/>
                </a:lnTo>
                <a:lnTo>
                  <a:pt x="285075" y="502262"/>
                </a:lnTo>
                <a:lnTo>
                  <a:pt x="260401" y="50428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364120" y="7297634"/>
            <a:ext cx="504825" cy="504825"/>
          </a:xfrm>
          <a:custGeom>
            <a:rect b="b" l="l" r="r" t="t"/>
            <a:pathLst>
              <a:path extrusionOk="0" h="504825" w="504825">
                <a:moveTo>
                  <a:pt x="260401" y="504286"/>
                </a:moveTo>
                <a:lnTo>
                  <a:pt x="211051" y="501052"/>
                </a:lnTo>
                <a:lnTo>
                  <a:pt x="163281" y="488253"/>
                </a:lnTo>
                <a:lnTo>
                  <a:pt x="118926" y="466380"/>
                </a:lnTo>
                <a:lnTo>
                  <a:pt x="79690" y="436274"/>
                </a:lnTo>
                <a:lnTo>
                  <a:pt x="47081" y="399092"/>
                </a:lnTo>
                <a:lnTo>
                  <a:pt x="22353" y="356263"/>
                </a:lnTo>
                <a:lnTo>
                  <a:pt x="6455" y="309433"/>
                </a:lnTo>
                <a:lnTo>
                  <a:pt x="0" y="260401"/>
                </a:lnTo>
                <a:lnTo>
                  <a:pt x="404" y="235647"/>
                </a:lnTo>
                <a:lnTo>
                  <a:pt x="8460" y="186852"/>
                </a:lnTo>
                <a:lnTo>
                  <a:pt x="25879" y="140566"/>
                </a:lnTo>
                <a:lnTo>
                  <a:pt x="51995" y="98568"/>
                </a:lnTo>
                <a:lnTo>
                  <a:pt x="85801" y="62472"/>
                </a:lnTo>
                <a:lnTo>
                  <a:pt x="126000" y="33665"/>
                </a:lnTo>
                <a:lnTo>
                  <a:pt x="171047" y="13254"/>
                </a:lnTo>
                <a:lnTo>
                  <a:pt x="219210" y="2023"/>
                </a:lnTo>
                <a:lnTo>
                  <a:pt x="243885" y="0"/>
                </a:lnTo>
                <a:lnTo>
                  <a:pt x="268639" y="404"/>
                </a:lnTo>
                <a:lnTo>
                  <a:pt x="317434" y="8460"/>
                </a:lnTo>
                <a:lnTo>
                  <a:pt x="363719" y="25879"/>
                </a:lnTo>
                <a:lnTo>
                  <a:pt x="405717" y="51995"/>
                </a:lnTo>
                <a:lnTo>
                  <a:pt x="441813" y="85801"/>
                </a:lnTo>
                <a:lnTo>
                  <a:pt x="470620" y="126000"/>
                </a:lnTo>
                <a:lnTo>
                  <a:pt x="491031" y="171047"/>
                </a:lnTo>
                <a:lnTo>
                  <a:pt x="502262" y="219210"/>
                </a:lnTo>
                <a:lnTo>
                  <a:pt x="504286" y="243885"/>
                </a:lnTo>
                <a:lnTo>
                  <a:pt x="504286" y="252143"/>
                </a:lnTo>
                <a:lnTo>
                  <a:pt x="495826" y="317434"/>
                </a:lnTo>
                <a:lnTo>
                  <a:pt x="478406" y="363719"/>
                </a:lnTo>
                <a:lnTo>
                  <a:pt x="452291" y="405717"/>
                </a:lnTo>
                <a:lnTo>
                  <a:pt x="418484" y="441813"/>
                </a:lnTo>
                <a:lnTo>
                  <a:pt x="378285" y="470620"/>
                </a:lnTo>
                <a:lnTo>
                  <a:pt x="333238" y="491031"/>
                </a:lnTo>
                <a:lnTo>
                  <a:pt x="285075" y="502262"/>
                </a:lnTo>
                <a:lnTo>
                  <a:pt x="260401" y="50428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973895" y="7297634"/>
            <a:ext cx="504825" cy="504825"/>
          </a:xfrm>
          <a:custGeom>
            <a:rect b="b" l="l" r="r" t="t"/>
            <a:pathLst>
              <a:path extrusionOk="0" h="504825" w="504825">
                <a:moveTo>
                  <a:pt x="260401" y="504286"/>
                </a:moveTo>
                <a:lnTo>
                  <a:pt x="211051" y="501052"/>
                </a:lnTo>
                <a:lnTo>
                  <a:pt x="163281" y="488253"/>
                </a:lnTo>
                <a:lnTo>
                  <a:pt x="118926" y="466380"/>
                </a:lnTo>
                <a:lnTo>
                  <a:pt x="79690" y="436274"/>
                </a:lnTo>
                <a:lnTo>
                  <a:pt x="47081" y="399092"/>
                </a:lnTo>
                <a:lnTo>
                  <a:pt x="22353" y="356263"/>
                </a:lnTo>
                <a:lnTo>
                  <a:pt x="6455" y="309433"/>
                </a:lnTo>
                <a:lnTo>
                  <a:pt x="0" y="260401"/>
                </a:lnTo>
                <a:lnTo>
                  <a:pt x="404" y="235647"/>
                </a:lnTo>
                <a:lnTo>
                  <a:pt x="8460" y="186852"/>
                </a:lnTo>
                <a:lnTo>
                  <a:pt x="25879" y="140566"/>
                </a:lnTo>
                <a:lnTo>
                  <a:pt x="51995" y="98568"/>
                </a:lnTo>
                <a:lnTo>
                  <a:pt x="85801" y="62472"/>
                </a:lnTo>
                <a:lnTo>
                  <a:pt x="126000" y="33665"/>
                </a:lnTo>
                <a:lnTo>
                  <a:pt x="171047" y="13254"/>
                </a:lnTo>
                <a:lnTo>
                  <a:pt x="219210" y="2023"/>
                </a:lnTo>
                <a:lnTo>
                  <a:pt x="243885" y="0"/>
                </a:lnTo>
                <a:lnTo>
                  <a:pt x="268639" y="404"/>
                </a:lnTo>
                <a:lnTo>
                  <a:pt x="317434" y="8460"/>
                </a:lnTo>
                <a:lnTo>
                  <a:pt x="363719" y="25879"/>
                </a:lnTo>
                <a:lnTo>
                  <a:pt x="405717" y="51995"/>
                </a:lnTo>
                <a:lnTo>
                  <a:pt x="441813" y="85801"/>
                </a:lnTo>
                <a:lnTo>
                  <a:pt x="470620" y="126000"/>
                </a:lnTo>
                <a:lnTo>
                  <a:pt x="491031" y="171047"/>
                </a:lnTo>
                <a:lnTo>
                  <a:pt x="502262" y="219210"/>
                </a:lnTo>
                <a:lnTo>
                  <a:pt x="504286" y="243885"/>
                </a:lnTo>
                <a:lnTo>
                  <a:pt x="504286" y="252143"/>
                </a:lnTo>
                <a:lnTo>
                  <a:pt x="495826" y="317434"/>
                </a:lnTo>
                <a:lnTo>
                  <a:pt x="478406" y="363719"/>
                </a:lnTo>
                <a:lnTo>
                  <a:pt x="452291" y="405717"/>
                </a:lnTo>
                <a:lnTo>
                  <a:pt x="418484" y="441813"/>
                </a:lnTo>
                <a:lnTo>
                  <a:pt x="378285" y="470620"/>
                </a:lnTo>
                <a:lnTo>
                  <a:pt x="333238" y="491031"/>
                </a:lnTo>
                <a:lnTo>
                  <a:pt x="285075" y="502262"/>
                </a:lnTo>
                <a:lnTo>
                  <a:pt x="260401" y="50428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11568" y="7888731"/>
            <a:ext cx="2009775" cy="1574165"/>
          </a:xfrm>
          <a:custGeom>
            <a:rect b="b" l="l" r="r" t="t"/>
            <a:pathLst>
              <a:path extrusionOk="0" h="1574165" w="2009775">
                <a:moveTo>
                  <a:pt x="602830" y="904379"/>
                </a:moveTo>
                <a:lnTo>
                  <a:pt x="555193" y="896696"/>
                </a:lnTo>
                <a:lnTo>
                  <a:pt x="513829" y="875296"/>
                </a:lnTo>
                <a:lnTo>
                  <a:pt x="481203" y="842670"/>
                </a:lnTo>
                <a:lnTo>
                  <a:pt x="459803" y="801306"/>
                </a:lnTo>
                <a:lnTo>
                  <a:pt x="452120" y="753668"/>
                </a:lnTo>
                <a:lnTo>
                  <a:pt x="452120" y="139"/>
                </a:lnTo>
                <a:lnTo>
                  <a:pt x="150710" y="139"/>
                </a:lnTo>
                <a:lnTo>
                  <a:pt x="103073" y="7823"/>
                </a:lnTo>
                <a:lnTo>
                  <a:pt x="61709" y="29222"/>
                </a:lnTo>
                <a:lnTo>
                  <a:pt x="29083" y="61836"/>
                </a:lnTo>
                <a:lnTo>
                  <a:pt x="7683" y="103212"/>
                </a:lnTo>
                <a:lnTo>
                  <a:pt x="0" y="150850"/>
                </a:lnTo>
                <a:lnTo>
                  <a:pt x="0" y="678319"/>
                </a:lnTo>
                <a:lnTo>
                  <a:pt x="7683" y="725957"/>
                </a:lnTo>
                <a:lnTo>
                  <a:pt x="29083" y="767321"/>
                </a:lnTo>
                <a:lnTo>
                  <a:pt x="61709" y="799947"/>
                </a:lnTo>
                <a:lnTo>
                  <a:pt x="103073" y="821347"/>
                </a:lnTo>
                <a:lnTo>
                  <a:pt x="150710" y="829017"/>
                </a:lnTo>
                <a:lnTo>
                  <a:pt x="150710" y="1431848"/>
                </a:lnTo>
                <a:lnTo>
                  <a:pt x="158394" y="1479486"/>
                </a:lnTo>
                <a:lnTo>
                  <a:pt x="179793" y="1520850"/>
                </a:lnTo>
                <a:lnTo>
                  <a:pt x="212407" y="1553476"/>
                </a:lnTo>
                <a:lnTo>
                  <a:pt x="251523" y="1573707"/>
                </a:lnTo>
                <a:lnTo>
                  <a:pt x="602830" y="1573707"/>
                </a:lnTo>
                <a:lnTo>
                  <a:pt x="602830" y="904379"/>
                </a:lnTo>
                <a:close/>
              </a:path>
              <a:path extrusionOk="0" h="1574165" w="2009775">
                <a:moveTo>
                  <a:pt x="1457325" y="151752"/>
                </a:moveTo>
                <a:lnTo>
                  <a:pt x="1449539" y="104000"/>
                </a:lnTo>
                <a:lnTo>
                  <a:pt x="1427886" y="62382"/>
                </a:lnTo>
                <a:lnTo>
                  <a:pt x="1394942" y="29438"/>
                </a:lnTo>
                <a:lnTo>
                  <a:pt x="1353324" y="7785"/>
                </a:lnTo>
                <a:lnTo>
                  <a:pt x="1305572" y="0"/>
                </a:lnTo>
                <a:lnTo>
                  <a:pt x="703795" y="0"/>
                </a:lnTo>
                <a:lnTo>
                  <a:pt x="656056" y="7785"/>
                </a:lnTo>
                <a:lnTo>
                  <a:pt x="614426" y="29438"/>
                </a:lnTo>
                <a:lnTo>
                  <a:pt x="581494" y="62382"/>
                </a:lnTo>
                <a:lnTo>
                  <a:pt x="559841" y="104000"/>
                </a:lnTo>
                <a:lnTo>
                  <a:pt x="552056" y="151752"/>
                </a:lnTo>
                <a:lnTo>
                  <a:pt x="552056" y="677646"/>
                </a:lnTo>
                <a:lnTo>
                  <a:pt x="559841" y="725385"/>
                </a:lnTo>
                <a:lnTo>
                  <a:pt x="581494" y="767016"/>
                </a:lnTo>
                <a:lnTo>
                  <a:pt x="614426" y="799960"/>
                </a:lnTo>
                <a:lnTo>
                  <a:pt x="656056" y="821613"/>
                </a:lnTo>
                <a:lnTo>
                  <a:pt x="703808" y="829398"/>
                </a:lnTo>
                <a:lnTo>
                  <a:pt x="703808" y="1431175"/>
                </a:lnTo>
                <a:lnTo>
                  <a:pt x="711327" y="1478927"/>
                </a:lnTo>
                <a:lnTo>
                  <a:pt x="732332" y="1520558"/>
                </a:lnTo>
                <a:lnTo>
                  <a:pt x="764489" y="1553489"/>
                </a:lnTo>
                <a:lnTo>
                  <a:pt x="802754" y="1573707"/>
                </a:lnTo>
                <a:lnTo>
                  <a:pt x="1206627" y="1573707"/>
                </a:lnTo>
                <a:lnTo>
                  <a:pt x="1244892" y="1553489"/>
                </a:lnTo>
                <a:lnTo>
                  <a:pt x="1277048" y="1520558"/>
                </a:lnTo>
                <a:lnTo>
                  <a:pt x="1298054" y="1478927"/>
                </a:lnTo>
                <a:lnTo>
                  <a:pt x="1305572" y="1431175"/>
                </a:lnTo>
                <a:lnTo>
                  <a:pt x="1305572" y="829398"/>
                </a:lnTo>
                <a:lnTo>
                  <a:pt x="1353324" y="821613"/>
                </a:lnTo>
                <a:lnTo>
                  <a:pt x="1394942" y="799960"/>
                </a:lnTo>
                <a:lnTo>
                  <a:pt x="1427886" y="767016"/>
                </a:lnTo>
                <a:lnTo>
                  <a:pt x="1449539" y="725385"/>
                </a:lnTo>
                <a:lnTo>
                  <a:pt x="1457325" y="677646"/>
                </a:lnTo>
                <a:lnTo>
                  <a:pt x="1457325" y="151752"/>
                </a:lnTo>
                <a:close/>
              </a:path>
              <a:path extrusionOk="0" h="1574165" w="2009775">
                <a:moveTo>
                  <a:pt x="2009419" y="150850"/>
                </a:moveTo>
                <a:lnTo>
                  <a:pt x="2001735" y="103212"/>
                </a:lnTo>
                <a:lnTo>
                  <a:pt x="1980349" y="61836"/>
                </a:lnTo>
                <a:lnTo>
                  <a:pt x="1947722" y="29222"/>
                </a:lnTo>
                <a:lnTo>
                  <a:pt x="1906358" y="7823"/>
                </a:lnTo>
                <a:lnTo>
                  <a:pt x="1858721" y="139"/>
                </a:lnTo>
                <a:lnTo>
                  <a:pt x="1557299" y="139"/>
                </a:lnTo>
                <a:lnTo>
                  <a:pt x="1557299" y="753668"/>
                </a:lnTo>
                <a:lnTo>
                  <a:pt x="1549615" y="801306"/>
                </a:lnTo>
                <a:lnTo>
                  <a:pt x="1528229" y="842670"/>
                </a:lnTo>
                <a:lnTo>
                  <a:pt x="1495602" y="875296"/>
                </a:lnTo>
                <a:lnTo>
                  <a:pt x="1454238" y="896696"/>
                </a:lnTo>
                <a:lnTo>
                  <a:pt x="1406601" y="904379"/>
                </a:lnTo>
                <a:lnTo>
                  <a:pt x="1406601" y="1573707"/>
                </a:lnTo>
                <a:lnTo>
                  <a:pt x="1757895" y="1573707"/>
                </a:lnTo>
                <a:lnTo>
                  <a:pt x="1797011" y="1553476"/>
                </a:lnTo>
                <a:lnTo>
                  <a:pt x="1829638" y="1520850"/>
                </a:lnTo>
                <a:lnTo>
                  <a:pt x="1851037" y="1479486"/>
                </a:lnTo>
                <a:lnTo>
                  <a:pt x="1858721" y="1431848"/>
                </a:lnTo>
                <a:lnTo>
                  <a:pt x="1858721" y="829017"/>
                </a:lnTo>
                <a:lnTo>
                  <a:pt x="1906358" y="821347"/>
                </a:lnTo>
                <a:lnTo>
                  <a:pt x="1947722" y="799947"/>
                </a:lnTo>
                <a:lnTo>
                  <a:pt x="1980349" y="767321"/>
                </a:lnTo>
                <a:lnTo>
                  <a:pt x="2001735" y="725957"/>
                </a:lnTo>
                <a:lnTo>
                  <a:pt x="2009419" y="678319"/>
                </a:lnTo>
                <a:lnTo>
                  <a:pt x="2009419" y="15085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4277874" y="694854"/>
            <a:ext cx="3002915" cy="2014855"/>
          </a:xfrm>
          <a:custGeom>
            <a:rect b="b" l="l" r="r" t="t"/>
            <a:pathLst>
              <a:path extrusionOk="0" h="2014855" w="3002915">
                <a:moveTo>
                  <a:pt x="1785391" y="1824723"/>
                </a:moveTo>
                <a:lnTo>
                  <a:pt x="1782343" y="1809648"/>
                </a:lnTo>
                <a:lnTo>
                  <a:pt x="1774037" y="1797329"/>
                </a:lnTo>
                <a:lnTo>
                  <a:pt x="1761731" y="1789023"/>
                </a:lnTo>
                <a:lnTo>
                  <a:pt x="1746681" y="1785975"/>
                </a:lnTo>
                <a:lnTo>
                  <a:pt x="1256182" y="1785975"/>
                </a:lnTo>
                <a:lnTo>
                  <a:pt x="1220368" y="1809864"/>
                </a:lnTo>
                <a:lnTo>
                  <a:pt x="1217447" y="1824723"/>
                </a:lnTo>
                <a:lnTo>
                  <a:pt x="1220495" y="1839798"/>
                </a:lnTo>
                <a:lnTo>
                  <a:pt x="1228801" y="1852129"/>
                </a:lnTo>
                <a:lnTo>
                  <a:pt x="1241120" y="1860461"/>
                </a:lnTo>
                <a:lnTo>
                  <a:pt x="1256182" y="1863521"/>
                </a:lnTo>
                <a:lnTo>
                  <a:pt x="1746681" y="1863521"/>
                </a:lnTo>
                <a:lnTo>
                  <a:pt x="1782457" y="1839582"/>
                </a:lnTo>
                <a:lnTo>
                  <a:pt x="1785391" y="1824723"/>
                </a:lnTo>
                <a:close/>
              </a:path>
              <a:path extrusionOk="0" h="2014855" w="3002915">
                <a:moveTo>
                  <a:pt x="3002851" y="142798"/>
                </a:moveTo>
                <a:lnTo>
                  <a:pt x="3000946" y="131076"/>
                </a:lnTo>
                <a:lnTo>
                  <a:pt x="2995549" y="97726"/>
                </a:lnTo>
                <a:lnTo>
                  <a:pt x="2975254" y="58534"/>
                </a:lnTo>
                <a:lnTo>
                  <a:pt x="2944317" y="27597"/>
                </a:lnTo>
                <a:lnTo>
                  <a:pt x="2905125" y="7289"/>
                </a:lnTo>
                <a:lnTo>
                  <a:pt x="2871774" y="1905"/>
                </a:lnTo>
                <a:lnTo>
                  <a:pt x="2871774" y="136296"/>
                </a:lnTo>
                <a:lnTo>
                  <a:pt x="2871774" y="1598015"/>
                </a:lnTo>
                <a:lnTo>
                  <a:pt x="1824736" y="1598015"/>
                </a:lnTo>
                <a:lnTo>
                  <a:pt x="1824736" y="1824723"/>
                </a:lnTo>
                <a:lnTo>
                  <a:pt x="1823148" y="1840445"/>
                </a:lnTo>
                <a:lnTo>
                  <a:pt x="1801863" y="1879942"/>
                </a:lnTo>
                <a:lnTo>
                  <a:pt x="1762404" y="1901240"/>
                </a:lnTo>
                <a:lnTo>
                  <a:pt x="1746681" y="1902828"/>
                </a:lnTo>
                <a:lnTo>
                  <a:pt x="1256182" y="1902828"/>
                </a:lnTo>
                <a:lnTo>
                  <a:pt x="1225778" y="1896681"/>
                </a:lnTo>
                <a:lnTo>
                  <a:pt x="1200975" y="1879942"/>
                </a:lnTo>
                <a:lnTo>
                  <a:pt x="1184249" y="1855114"/>
                </a:lnTo>
                <a:lnTo>
                  <a:pt x="1178128" y="1824723"/>
                </a:lnTo>
                <a:lnTo>
                  <a:pt x="1179703" y="1808975"/>
                </a:lnTo>
                <a:lnTo>
                  <a:pt x="1201000" y="1769516"/>
                </a:lnTo>
                <a:lnTo>
                  <a:pt x="1240447" y="1748243"/>
                </a:lnTo>
                <a:lnTo>
                  <a:pt x="1256182" y="1746669"/>
                </a:lnTo>
                <a:lnTo>
                  <a:pt x="1746681" y="1746669"/>
                </a:lnTo>
                <a:lnTo>
                  <a:pt x="1777022" y="1752790"/>
                </a:lnTo>
                <a:lnTo>
                  <a:pt x="1801876" y="1769516"/>
                </a:lnTo>
                <a:lnTo>
                  <a:pt x="1818589" y="1794319"/>
                </a:lnTo>
                <a:lnTo>
                  <a:pt x="1824736" y="1824723"/>
                </a:lnTo>
                <a:lnTo>
                  <a:pt x="1824736" y="1598015"/>
                </a:lnTo>
                <a:lnTo>
                  <a:pt x="131089" y="1598015"/>
                </a:lnTo>
                <a:lnTo>
                  <a:pt x="131089" y="136296"/>
                </a:lnTo>
                <a:lnTo>
                  <a:pt x="136385" y="131076"/>
                </a:lnTo>
                <a:lnTo>
                  <a:pt x="2866453" y="131076"/>
                </a:lnTo>
                <a:lnTo>
                  <a:pt x="2871774" y="136296"/>
                </a:lnTo>
                <a:lnTo>
                  <a:pt x="2871774" y="1905"/>
                </a:lnTo>
                <a:lnTo>
                  <a:pt x="2860040" y="0"/>
                </a:lnTo>
                <a:lnTo>
                  <a:pt x="142875" y="0"/>
                </a:lnTo>
                <a:lnTo>
                  <a:pt x="97764" y="7289"/>
                </a:lnTo>
                <a:lnTo>
                  <a:pt x="58559" y="27597"/>
                </a:lnTo>
                <a:lnTo>
                  <a:pt x="27609" y="58534"/>
                </a:lnTo>
                <a:lnTo>
                  <a:pt x="7302" y="97726"/>
                </a:lnTo>
                <a:lnTo>
                  <a:pt x="0" y="142798"/>
                </a:lnTo>
                <a:lnTo>
                  <a:pt x="0" y="1871497"/>
                </a:lnTo>
                <a:lnTo>
                  <a:pt x="7302" y="1916582"/>
                </a:lnTo>
                <a:lnTo>
                  <a:pt x="27609" y="1955774"/>
                </a:lnTo>
                <a:lnTo>
                  <a:pt x="58559" y="1986711"/>
                </a:lnTo>
                <a:lnTo>
                  <a:pt x="97764" y="2007019"/>
                </a:lnTo>
                <a:lnTo>
                  <a:pt x="142875" y="2014321"/>
                </a:lnTo>
                <a:lnTo>
                  <a:pt x="2860040" y="2014321"/>
                </a:lnTo>
                <a:lnTo>
                  <a:pt x="2905125" y="2007019"/>
                </a:lnTo>
                <a:lnTo>
                  <a:pt x="2944317" y="1986711"/>
                </a:lnTo>
                <a:lnTo>
                  <a:pt x="2975254" y="1955774"/>
                </a:lnTo>
                <a:lnTo>
                  <a:pt x="2995549" y="1916582"/>
                </a:lnTo>
                <a:lnTo>
                  <a:pt x="3002851" y="1871497"/>
                </a:lnTo>
                <a:lnTo>
                  <a:pt x="3002851" y="1746669"/>
                </a:lnTo>
                <a:lnTo>
                  <a:pt x="3002851" y="1598015"/>
                </a:lnTo>
                <a:lnTo>
                  <a:pt x="3002851" y="142798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4896267" y="3000683"/>
            <a:ext cx="1766570" cy="177165"/>
          </a:xfrm>
          <a:custGeom>
            <a:rect b="b" l="l" r="r" t="t"/>
            <a:pathLst>
              <a:path extrusionOk="0" h="177164" w="1766569">
                <a:moveTo>
                  <a:pt x="1766135" y="177010"/>
                </a:moveTo>
                <a:lnTo>
                  <a:pt x="0" y="177010"/>
                </a:lnTo>
                <a:lnTo>
                  <a:pt x="18722" y="134827"/>
                </a:lnTo>
                <a:lnTo>
                  <a:pt x="44303" y="96948"/>
                </a:lnTo>
                <a:lnTo>
                  <a:pt x="75947" y="64171"/>
                </a:lnTo>
                <a:lnTo>
                  <a:pt x="112857" y="37291"/>
                </a:lnTo>
                <a:lnTo>
                  <a:pt x="154235" y="17104"/>
                </a:lnTo>
                <a:lnTo>
                  <a:pt x="199286" y="4408"/>
                </a:lnTo>
                <a:lnTo>
                  <a:pt x="247213" y="0"/>
                </a:lnTo>
                <a:lnTo>
                  <a:pt x="1518931" y="0"/>
                </a:lnTo>
                <a:lnTo>
                  <a:pt x="1566878" y="4408"/>
                </a:lnTo>
                <a:lnTo>
                  <a:pt x="1611934" y="17104"/>
                </a:lnTo>
                <a:lnTo>
                  <a:pt x="1653309" y="37291"/>
                </a:lnTo>
                <a:lnTo>
                  <a:pt x="1690208" y="64171"/>
                </a:lnTo>
                <a:lnTo>
                  <a:pt x="1721841" y="96948"/>
                </a:lnTo>
                <a:lnTo>
                  <a:pt x="1747414" y="134827"/>
                </a:lnTo>
                <a:lnTo>
                  <a:pt x="1766135" y="17701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5443192" y="2756616"/>
            <a:ext cx="672465" cy="196850"/>
          </a:xfrm>
          <a:custGeom>
            <a:rect b="b" l="l" r="r" t="t"/>
            <a:pathLst>
              <a:path extrusionOk="0" h="196850" w="672465">
                <a:moveTo>
                  <a:pt x="672288" y="196606"/>
                </a:moveTo>
                <a:lnTo>
                  <a:pt x="0" y="196606"/>
                </a:lnTo>
                <a:lnTo>
                  <a:pt x="66121" y="0"/>
                </a:lnTo>
                <a:lnTo>
                  <a:pt x="606157" y="0"/>
                </a:lnTo>
                <a:lnTo>
                  <a:pt x="672288" y="19660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>
            <p:ph type="title"/>
          </p:nvPr>
        </p:nvSpPr>
        <p:spPr>
          <a:xfrm>
            <a:off x="6171450" y="1512525"/>
            <a:ext cx="59451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8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SOLUCIÓN</a:t>
            </a:r>
            <a:endParaRPr sz="8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2583686" y="3080355"/>
            <a:ext cx="13012800" cy="7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69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600"/>
              <a:t>Desarrollar una plataforma móvil y web que permita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probadores virtuales de ropa en tiempo real </a:t>
            </a:r>
            <a:r>
              <a:rPr lang="es-ES" sz="3600"/>
              <a:t>para reducir la inseguridad y las dudas de los usuarios al comprar.</a:t>
            </a:r>
            <a:br>
              <a:rPr lang="es-ES" sz="3600"/>
            </a:br>
            <a:r>
              <a:rPr lang="es-ES" sz="3600"/>
              <a:t>La solución debe ofrecer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visualización realista de prendas</a:t>
            </a:r>
            <a:r>
              <a:rPr lang="es-ES" sz="3600"/>
              <a:t>, entregar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recomendaciones precisas de talla</a:t>
            </a:r>
            <a:r>
              <a:rPr lang="es-ES" sz="3600"/>
              <a:t>, y mejorar la confianza del cliente en su decisión de compra.</a:t>
            </a:r>
            <a:br>
              <a:rPr lang="es-ES" sz="3600"/>
            </a:br>
            <a:r>
              <a:rPr lang="es-ES" sz="3600"/>
              <a:t>Esto permitirá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disminuir devoluciones</a:t>
            </a:r>
            <a:r>
              <a:rPr lang="es-ES" sz="3600"/>
              <a:t>, aumentar la satisfacción del usuario y ofrecer a los e-commerce una herramienta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simple, intuitiva y adaptable </a:t>
            </a:r>
            <a:r>
              <a:rPr lang="es-ES" sz="3600"/>
              <a:t>a cualquier catálogo.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6"/>
          <p:cNvGrpSpPr/>
          <p:nvPr/>
        </p:nvGrpSpPr>
        <p:grpSpPr>
          <a:xfrm>
            <a:off x="0" y="546397"/>
            <a:ext cx="3040380" cy="3625858"/>
            <a:chOff x="0" y="546397"/>
            <a:chExt cx="3040380" cy="3625858"/>
          </a:xfrm>
        </p:grpSpPr>
        <p:sp>
          <p:nvSpPr>
            <p:cNvPr id="123" name="Google Shape;123;p6"/>
            <p:cNvSpPr/>
            <p:nvPr/>
          </p:nvSpPr>
          <p:spPr>
            <a:xfrm>
              <a:off x="0" y="546397"/>
              <a:ext cx="3040380" cy="2980055"/>
            </a:xfrm>
            <a:custGeom>
              <a:rect b="b" l="l" r="r" t="t"/>
              <a:pathLst>
                <a:path extrusionOk="0" h="2980054" w="3040380">
                  <a:moveTo>
                    <a:pt x="0" y="2979991"/>
                  </a:moveTo>
                  <a:lnTo>
                    <a:pt x="0" y="1087602"/>
                  </a:lnTo>
                  <a:lnTo>
                    <a:pt x="2310585" y="0"/>
                  </a:lnTo>
                  <a:lnTo>
                    <a:pt x="3039779" y="1549153"/>
                  </a:lnTo>
                  <a:lnTo>
                    <a:pt x="0" y="2979991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0" y="1321105"/>
              <a:ext cx="2766060" cy="2851150"/>
            </a:xfrm>
            <a:custGeom>
              <a:rect b="b" l="l" r="r" t="t"/>
              <a:pathLst>
                <a:path extrusionOk="0" h="2851150" w="2766060">
                  <a:moveTo>
                    <a:pt x="0" y="2851143"/>
                  </a:moveTo>
                  <a:lnTo>
                    <a:pt x="0" y="958754"/>
                  </a:lnTo>
                  <a:lnTo>
                    <a:pt x="2036850" y="0"/>
                  </a:lnTo>
                  <a:lnTo>
                    <a:pt x="2766044" y="1549153"/>
                  </a:lnTo>
                  <a:lnTo>
                    <a:pt x="0" y="2851143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6"/>
          <p:cNvGrpSpPr/>
          <p:nvPr/>
        </p:nvGrpSpPr>
        <p:grpSpPr>
          <a:xfrm rot="5400000">
            <a:off x="16144348" y="8125240"/>
            <a:ext cx="1867037" cy="2456755"/>
            <a:chOff x="15238333" y="6194136"/>
            <a:chExt cx="3050129" cy="3546634"/>
          </a:xfrm>
        </p:grpSpPr>
        <p:sp>
          <p:nvSpPr>
            <p:cNvPr id="126" name="Google Shape;126;p6"/>
            <p:cNvSpPr/>
            <p:nvPr/>
          </p:nvSpPr>
          <p:spPr>
            <a:xfrm>
              <a:off x="15238333" y="6832470"/>
              <a:ext cx="3049905" cy="2908300"/>
            </a:xfrm>
            <a:custGeom>
              <a:rect b="b" l="l" r="r" t="t"/>
              <a:pathLst>
                <a:path extrusionOk="0" h="2908300" w="3049905">
                  <a:moveTo>
                    <a:pt x="3049666" y="0"/>
                  </a:moveTo>
                  <a:lnTo>
                    <a:pt x="3049667" y="1870338"/>
                  </a:lnTo>
                  <a:lnTo>
                    <a:pt x="689059" y="2908095"/>
                  </a:lnTo>
                  <a:lnTo>
                    <a:pt x="0" y="1340676"/>
                  </a:lnTo>
                  <a:lnTo>
                    <a:pt x="3049666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5531927" y="6194136"/>
              <a:ext cx="2756535" cy="2779395"/>
            </a:xfrm>
            <a:custGeom>
              <a:rect b="b" l="l" r="r" t="t"/>
              <a:pathLst>
                <a:path extrusionOk="0" h="2779395" w="2756534">
                  <a:moveTo>
                    <a:pt x="2756072" y="0"/>
                  </a:moveTo>
                  <a:lnTo>
                    <a:pt x="2756072" y="1870338"/>
                  </a:lnTo>
                  <a:lnTo>
                    <a:pt x="689058" y="2779026"/>
                  </a:lnTo>
                  <a:lnTo>
                    <a:pt x="0" y="1211608"/>
                  </a:lnTo>
                  <a:lnTo>
                    <a:pt x="2756072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6"/>
          <p:cNvSpPr txBox="1"/>
          <p:nvPr>
            <p:ph type="title"/>
          </p:nvPr>
        </p:nvSpPr>
        <p:spPr>
          <a:xfrm>
            <a:off x="5409300" y="342900"/>
            <a:ext cx="74694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00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OBJETIVOS</a:t>
            </a:r>
            <a:endParaRPr sz="100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523445" y="2933700"/>
            <a:ext cx="1478280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Reducir la incertidumbre del usuario al elegir tallas, colores y combinaciones.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Disminuir el índice de devoluciones en tiendas y e-commerce.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Entregar una visualización realista que aumente la confianza al comprar.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Ofrecer una interfaz intuitiva, rápida y accesible para todo tipo de público.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Integrarse fácilmente con catálogos y plataformas de venta existentes.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Escalar para soportar múltiples tiendas, productos y usuarios simultáneo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895" y="3162300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90" y="4203700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89" y="4787195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88" y="5854701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87" y="6953602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86" y="8062699"/>
            <a:ext cx="21035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7"/>
          <p:cNvGrpSpPr/>
          <p:nvPr/>
        </p:nvGrpSpPr>
        <p:grpSpPr>
          <a:xfrm>
            <a:off x="0" y="0"/>
            <a:ext cx="2247900" cy="2305050"/>
            <a:chOff x="0" y="0"/>
            <a:chExt cx="2247900" cy="2305050"/>
          </a:xfrm>
        </p:grpSpPr>
        <p:sp>
          <p:nvSpPr>
            <p:cNvPr id="141" name="Google Shape;141;p7"/>
            <p:cNvSpPr/>
            <p:nvPr/>
          </p:nvSpPr>
          <p:spPr>
            <a:xfrm>
              <a:off x="0" y="0"/>
              <a:ext cx="2247900" cy="2254885"/>
            </a:xfrm>
            <a:custGeom>
              <a:rect b="b" l="l" r="r" t="t"/>
              <a:pathLst>
                <a:path extrusionOk="0" h="2254885" w="2247900">
                  <a:moveTo>
                    <a:pt x="0" y="145800"/>
                  </a:moveTo>
                  <a:lnTo>
                    <a:pt x="165829" y="0"/>
                  </a:lnTo>
                  <a:lnTo>
                    <a:pt x="1049897" y="0"/>
                  </a:lnTo>
                  <a:lnTo>
                    <a:pt x="2247833" y="1362498"/>
                  </a:lnTo>
                  <a:lnTo>
                    <a:pt x="1233516" y="2254306"/>
                  </a:lnTo>
                  <a:lnTo>
                    <a:pt x="0" y="851340"/>
                  </a:lnTo>
                  <a:lnTo>
                    <a:pt x="0" y="14580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0" y="0"/>
              <a:ext cx="1678939" cy="2305050"/>
            </a:xfrm>
            <a:custGeom>
              <a:rect b="b" l="l" r="r" t="t"/>
              <a:pathLst>
                <a:path extrusionOk="0" h="2305050" w="1678939">
                  <a:moveTo>
                    <a:pt x="0" y="0"/>
                  </a:moveTo>
                  <a:lnTo>
                    <a:pt x="436111" y="0"/>
                  </a:lnTo>
                  <a:lnTo>
                    <a:pt x="1678552" y="1413118"/>
                  </a:lnTo>
                  <a:lnTo>
                    <a:pt x="664235" y="2304926"/>
                  </a:lnTo>
                  <a:lnTo>
                    <a:pt x="0" y="1549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5461" y="660716"/>
            <a:ext cx="3733799" cy="285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9428" y="660716"/>
            <a:ext cx="3733798" cy="2857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3394" y="566466"/>
            <a:ext cx="373380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23861" y="3932153"/>
            <a:ext cx="600074" cy="60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32372" y="3881072"/>
            <a:ext cx="647699" cy="64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79388" y="6764028"/>
            <a:ext cx="6391274" cy="3381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 rot="-5400000">
            <a:off x="-1058500" y="5107925"/>
            <a:ext cx="527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1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ALCANCE</a:t>
            </a:r>
            <a:endParaRPr b="0" i="0" sz="8000" u="none" cap="none" strike="noStrike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3800280" y="3846843"/>
            <a:ext cx="31127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s-ES" sz="4200" u="none" cap="none" strike="noStrike">
                <a:solidFill>
                  <a:srgbClr val="1C7966"/>
                </a:solidFill>
                <a:latin typeface="Trebuchet MS"/>
                <a:ea typeface="Trebuchet MS"/>
                <a:cs typeface="Trebuchet MS"/>
                <a:sym typeface="Trebuchet MS"/>
              </a:rPr>
              <a:t>Lo que hace</a:t>
            </a:r>
            <a:endParaRPr b="0" i="0" sz="4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" name="Google Shape;151;p7"/>
          <p:cNvSpPr txBox="1"/>
          <p:nvPr>
            <p:ph type="title"/>
          </p:nvPr>
        </p:nvSpPr>
        <p:spPr>
          <a:xfrm>
            <a:off x="11539859" y="3846843"/>
            <a:ext cx="387794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4200">
                <a:solidFill>
                  <a:srgbClr val="1C7966"/>
                </a:solidFill>
                <a:latin typeface="Trebuchet MS"/>
                <a:ea typeface="Trebuchet MS"/>
                <a:cs typeface="Trebuchet MS"/>
                <a:sym typeface="Trebuchet MS"/>
              </a:rPr>
              <a:t>Lo que no hace</a:t>
            </a:r>
            <a:endParaRPr sz="4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69702" y="4795755"/>
            <a:ext cx="1466975" cy="157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60013" y="5118125"/>
            <a:ext cx="1231500" cy="12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37925" y="5118125"/>
            <a:ext cx="1231500" cy="12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55788" y="5076450"/>
            <a:ext cx="1314851" cy="131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9850" y="5447873"/>
            <a:ext cx="1882022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062600" y="5447870"/>
            <a:ext cx="1466974" cy="1580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/>
          <p:cNvPicPr preferRelativeResize="0"/>
          <p:nvPr/>
        </p:nvPicPr>
        <p:blipFill rotWithShape="1">
          <a:blip r:embed="rId15">
            <a:alphaModFix/>
          </a:blip>
          <a:srcRect b="0" l="17588" r="17768" t="0"/>
          <a:stretch/>
        </p:blipFill>
        <p:spPr>
          <a:xfrm>
            <a:off x="12516888" y="7525800"/>
            <a:ext cx="2110925" cy="18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8"/>
          <p:cNvGrpSpPr/>
          <p:nvPr/>
        </p:nvGrpSpPr>
        <p:grpSpPr>
          <a:xfrm>
            <a:off x="0" y="5894234"/>
            <a:ext cx="4213860" cy="4393278"/>
            <a:chOff x="0" y="5894234"/>
            <a:chExt cx="4213860" cy="4393278"/>
          </a:xfrm>
        </p:grpSpPr>
        <p:sp>
          <p:nvSpPr>
            <p:cNvPr id="164" name="Google Shape;164;p8"/>
            <p:cNvSpPr/>
            <p:nvPr/>
          </p:nvSpPr>
          <p:spPr>
            <a:xfrm>
              <a:off x="0" y="7013452"/>
              <a:ext cx="3594100" cy="3274060"/>
            </a:xfrm>
            <a:custGeom>
              <a:rect b="b" l="l" r="r" t="t"/>
              <a:pathLst>
                <a:path extrusionOk="0" h="3274059" w="3594100">
                  <a:moveTo>
                    <a:pt x="2679753" y="0"/>
                  </a:moveTo>
                  <a:lnTo>
                    <a:pt x="3593734" y="2079051"/>
                  </a:lnTo>
                  <a:lnTo>
                    <a:pt x="876587" y="3273547"/>
                  </a:lnTo>
                  <a:lnTo>
                    <a:pt x="0" y="3273547"/>
                  </a:lnTo>
                  <a:lnTo>
                    <a:pt x="0" y="1178057"/>
                  </a:lnTo>
                  <a:lnTo>
                    <a:pt x="2679753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0" y="5894234"/>
              <a:ext cx="4213860" cy="3931920"/>
            </a:xfrm>
            <a:custGeom>
              <a:rect b="b" l="l" r="r" t="t"/>
              <a:pathLst>
                <a:path extrusionOk="0" h="3931920" w="4213860">
                  <a:moveTo>
                    <a:pt x="3299660" y="0"/>
                  </a:moveTo>
                  <a:lnTo>
                    <a:pt x="4213641" y="2079051"/>
                  </a:lnTo>
                  <a:lnTo>
                    <a:pt x="0" y="3931427"/>
                  </a:lnTo>
                  <a:lnTo>
                    <a:pt x="0" y="1450577"/>
                  </a:lnTo>
                  <a:lnTo>
                    <a:pt x="329966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8"/>
          <p:cNvSpPr txBox="1"/>
          <p:nvPr>
            <p:ph type="title"/>
          </p:nvPr>
        </p:nvSpPr>
        <p:spPr>
          <a:xfrm>
            <a:off x="1597675" y="735400"/>
            <a:ext cx="40857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84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ROLES</a:t>
            </a:r>
            <a:endParaRPr sz="84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4066300" y="3227300"/>
            <a:ext cx="7422000" cy="45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5309"/>
              </a:spcBef>
              <a:spcAft>
                <a:spcPts val="0"/>
              </a:spcAft>
              <a:buClr>
                <a:srgbClr val="17365D"/>
              </a:buClr>
              <a:buSzPts val="4200"/>
              <a:buFont typeface="Verdana"/>
              <a:buChar char="●"/>
            </a:pPr>
            <a:r>
              <a:rPr b="1" i="1" lang="es-ES" sz="4200" u="none" cap="none" strike="noStrik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rPr>
              <a:t>Proyecto:</a:t>
            </a:r>
            <a:endParaRPr b="1" i="1" sz="4200" u="none" cap="none" strike="noStrike">
              <a:solidFill>
                <a:srgbClr val="17365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46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="0" baseline="-25000" i="0" lang="es-ES" sz="50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Desarrollador Frotend</a:t>
            </a:r>
            <a:endParaRPr b="0" baseline="-25000" i="0" sz="50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="0" baseline="-25000" i="0" lang="es-ES" sz="50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Desarrollador Backend.</a:t>
            </a:r>
            <a:endParaRPr b="0" baseline="-25000" i="0" sz="50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="0" baseline="-25000" i="0" lang="es-ES" sz="50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Módulo IA y Viton-HD</a:t>
            </a:r>
            <a:endParaRPr b="0" baseline="-25000" i="0" sz="50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="0" baseline="-25000" i="0" lang="es-ES" sz="50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QA y Testing.</a:t>
            </a:r>
            <a:endParaRPr b="0" baseline="-25000" i="0" sz="50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="0" baseline="-25000" i="0" lang="es-ES" sz="50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Diseño</a:t>
            </a:r>
            <a:endParaRPr b="0" baseline="-25000" i="0" sz="50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1610150" y="3227300"/>
            <a:ext cx="6678000" cy="7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5309"/>
              </a:spcBef>
              <a:spcAft>
                <a:spcPts val="0"/>
              </a:spcAft>
              <a:buClr>
                <a:srgbClr val="17365D"/>
              </a:buClr>
              <a:buSzPts val="4200"/>
              <a:buFont typeface="Verdana"/>
              <a:buChar char="●"/>
            </a:pPr>
            <a:r>
              <a:rPr b="1" i="1" lang="es-ES" sz="4200" u="none" cap="none" strike="noStrik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rPr>
              <a:t>Usuarios:</a:t>
            </a:r>
            <a:endParaRPr b="1" i="1" sz="4200" u="none" cap="none" strike="noStrike">
              <a:solidFill>
                <a:srgbClr val="17365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●"/>
            </a:pPr>
            <a:r>
              <a:rPr b="0" baseline="-25000" i="0" lang="es-ES" sz="50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Administrador.</a:t>
            </a:r>
            <a:endParaRPr b="0" baseline="-25000" i="0" sz="50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●"/>
            </a:pPr>
            <a:r>
              <a:rPr b="0" baseline="-25000" i="0" lang="es-ES" sz="50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Empleado</a:t>
            </a:r>
            <a:endParaRPr b="0" baseline="-25000" i="0" sz="51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●"/>
            </a:pPr>
            <a:r>
              <a:rPr b="0" baseline="-25000" i="0" lang="es-ES" sz="50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Cliente</a:t>
            </a:r>
            <a:endParaRPr b="0" baseline="-25000" i="0" sz="50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C2E7D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054075" y="1867375"/>
            <a:ext cx="11914500" cy="1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0" i="0" lang="es-ES" sz="5200" u="none" cap="none" strike="noStrike">
                <a:solidFill>
                  <a:srgbClr val="538CD5"/>
                </a:solidFill>
                <a:latin typeface="Arial Black"/>
                <a:ea typeface="Arial Black"/>
                <a:cs typeface="Arial Black"/>
                <a:sym typeface="Arial Black"/>
              </a:rPr>
              <a:t>De proyecto y de usuarios</a:t>
            </a:r>
            <a:endParaRPr b="0" i="0" sz="5300" u="none" cap="none" strike="noStrike">
              <a:solidFill>
                <a:srgbClr val="C2E7D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type="title"/>
          </p:nvPr>
        </p:nvSpPr>
        <p:spPr>
          <a:xfrm>
            <a:off x="941200" y="55800"/>
            <a:ext cx="17085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2450">
            <a:spAutoFit/>
          </a:bodyPr>
          <a:lstStyle/>
          <a:p>
            <a:pPr indent="0" lvl="0" marL="6305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84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CRONOGRAMA EN SEMANAS</a:t>
            </a:r>
            <a:endParaRPr sz="84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75" name="Google Shape;175;p9"/>
          <p:cNvGrpSpPr/>
          <p:nvPr/>
        </p:nvGrpSpPr>
        <p:grpSpPr>
          <a:xfrm>
            <a:off x="-1072750" y="6921621"/>
            <a:ext cx="3577146" cy="3729453"/>
            <a:chOff x="0" y="5894234"/>
            <a:chExt cx="4213860" cy="4393277"/>
          </a:xfrm>
        </p:grpSpPr>
        <p:sp>
          <p:nvSpPr>
            <p:cNvPr id="176" name="Google Shape;176;p9"/>
            <p:cNvSpPr/>
            <p:nvPr/>
          </p:nvSpPr>
          <p:spPr>
            <a:xfrm>
              <a:off x="0" y="7013452"/>
              <a:ext cx="3594100" cy="3274059"/>
            </a:xfrm>
            <a:custGeom>
              <a:rect b="b" l="l" r="r" t="t"/>
              <a:pathLst>
                <a:path extrusionOk="0" h="3274059" w="3594100">
                  <a:moveTo>
                    <a:pt x="2679753" y="0"/>
                  </a:moveTo>
                  <a:lnTo>
                    <a:pt x="3593734" y="2079051"/>
                  </a:lnTo>
                  <a:lnTo>
                    <a:pt x="876587" y="3273547"/>
                  </a:lnTo>
                  <a:lnTo>
                    <a:pt x="0" y="3273547"/>
                  </a:lnTo>
                  <a:lnTo>
                    <a:pt x="0" y="1178057"/>
                  </a:lnTo>
                  <a:lnTo>
                    <a:pt x="2679753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8"/>
                <a:buFont typeface="Arial"/>
                <a:buNone/>
              </a:pPr>
              <a:r>
                <a:t/>
              </a:r>
              <a:endParaRPr b="0" i="0" sz="15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0" y="5894234"/>
              <a:ext cx="4213860" cy="3931920"/>
            </a:xfrm>
            <a:custGeom>
              <a:rect b="b" l="l" r="r" t="t"/>
              <a:pathLst>
                <a:path extrusionOk="0" h="3931920" w="4213860">
                  <a:moveTo>
                    <a:pt x="3299660" y="0"/>
                  </a:moveTo>
                  <a:lnTo>
                    <a:pt x="4213641" y="2079051"/>
                  </a:lnTo>
                  <a:lnTo>
                    <a:pt x="0" y="3931427"/>
                  </a:lnTo>
                  <a:lnTo>
                    <a:pt x="0" y="1450577"/>
                  </a:lnTo>
                  <a:lnTo>
                    <a:pt x="329966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8"/>
                <a:buFont typeface="Arial"/>
                <a:buNone/>
              </a:pPr>
              <a:r>
                <a:t/>
              </a:r>
              <a:endParaRPr b="0" i="0" sz="15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8" name="Google Shape;17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950" y="1609475"/>
            <a:ext cx="11182085" cy="86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10"/>
          <p:cNvGrpSpPr/>
          <p:nvPr/>
        </p:nvGrpSpPr>
        <p:grpSpPr>
          <a:xfrm>
            <a:off x="15931974" y="6275342"/>
            <a:ext cx="2356536" cy="3304605"/>
            <a:chOff x="15931974" y="6275342"/>
            <a:chExt cx="2356536" cy="3304605"/>
          </a:xfrm>
        </p:grpSpPr>
        <p:sp>
          <p:nvSpPr>
            <p:cNvPr id="185" name="Google Shape;185;p10"/>
            <p:cNvSpPr/>
            <p:nvPr/>
          </p:nvSpPr>
          <p:spPr>
            <a:xfrm>
              <a:off x="16205710" y="6275342"/>
              <a:ext cx="2082800" cy="2529840"/>
            </a:xfrm>
            <a:custGeom>
              <a:rect b="b" l="l" r="r" t="t"/>
              <a:pathLst>
                <a:path extrusionOk="0" h="2529840" w="2082800">
                  <a:moveTo>
                    <a:pt x="729193" y="2529296"/>
                  </a:moveTo>
                  <a:lnTo>
                    <a:pt x="0" y="980142"/>
                  </a:lnTo>
                  <a:lnTo>
                    <a:pt x="2082288" y="0"/>
                  </a:lnTo>
                  <a:lnTo>
                    <a:pt x="2082288" y="1892388"/>
                  </a:lnTo>
                  <a:lnTo>
                    <a:pt x="729193" y="2529296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15931974" y="6921202"/>
              <a:ext cx="2356485" cy="2658745"/>
            </a:xfrm>
            <a:custGeom>
              <a:rect b="b" l="l" r="r" t="t"/>
              <a:pathLst>
                <a:path extrusionOk="0" h="2658745" w="2356484">
                  <a:moveTo>
                    <a:pt x="729193" y="2658145"/>
                  </a:moveTo>
                  <a:lnTo>
                    <a:pt x="0" y="1108991"/>
                  </a:lnTo>
                  <a:lnTo>
                    <a:pt x="2356023" y="0"/>
                  </a:lnTo>
                  <a:lnTo>
                    <a:pt x="2356023" y="1892388"/>
                  </a:lnTo>
                  <a:lnTo>
                    <a:pt x="729193" y="2658145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10"/>
          <p:cNvSpPr txBox="1"/>
          <p:nvPr>
            <p:ph type="title"/>
          </p:nvPr>
        </p:nvSpPr>
        <p:spPr>
          <a:xfrm>
            <a:off x="2706975" y="477225"/>
            <a:ext cx="11433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Arquitectura</a:t>
            </a:r>
            <a:endParaRPr/>
          </a:p>
        </p:txBody>
      </p:sp>
      <p:pic>
        <p:nvPicPr>
          <p:cNvPr id="188" name="Google Shape;1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7025" y="2027900"/>
            <a:ext cx="11432912" cy="82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6706" y="1028700"/>
            <a:ext cx="2562224" cy="822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00136" y="1028700"/>
            <a:ext cx="2562224" cy="822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03566" y="1028700"/>
            <a:ext cx="255862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 txBox="1"/>
          <p:nvPr>
            <p:ph type="title"/>
          </p:nvPr>
        </p:nvSpPr>
        <p:spPr>
          <a:xfrm>
            <a:off x="1016000" y="904950"/>
            <a:ext cx="74682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8000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rPr>
              <a:t>REFLEXIONES FINALES</a:t>
            </a:r>
            <a:endParaRPr sz="8000">
              <a:solidFill>
                <a:srgbClr val="17365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1016000" y="4358376"/>
            <a:ext cx="6622500" cy="4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77851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¿Como se abordó este caso como equipo?</a:t>
            </a:r>
            <a:endParaRPr b="0" i="0" sz="28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5080" rtl="0" algn="l">
              <a:lnSpc>
                <a:spcPct val="117857"/>
              </a:lnSpc>
              <a:spcBef>
                <a:spcPts val="253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¿Cuáles fueron los problemas que más se presentaron como equipo de trabajo?</a:t>
            </a:r>
            <a:endParaRPr b="0" i="0" sz="28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423544" rtl="0" algn="l">
              <a:lnSpc>
                <a:spcPct val="117857"/>
              </a:lnSpc>
              <a:spcBef>
                <a:spcPts val="253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¿Se cumplieron los objetivos iniciales del proyecto?</a:t>
            </a:r>
            <a:endParaRPr b="0" i="0" sz="2800" u="none" cap="none" strike="noStrike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2025-11-20T03:58:10Z</dcterms:created>
  <dc:creator>ORLANDO VICENTE SIERRA VALDERRAMA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2024-12-03T00:00:00Z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2025-11-20T00:00:00Z</vt:filetime>
  </property>
  <property fmtid="{D5CDD505-2E9C-101B-9397-08002B2CF9AE}" pid="5" name="Producer">
    <vt:lpwstr>Canva</vt:lpwstr>
  </property>
</Properties>
</file>